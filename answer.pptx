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atlan.com/know/what-are-embeddings-ai-search/#:~:text=dissimilar%20items%20apart,slower%20retrieval%20and%20higher%20compute" TargetMode="External"/><Relationship Id="rId2" Type="http://schemas.openxmlformats.org/officeDocument/2006/relationships/hyperlink" Target="https://www.elastic.co/search-labs/blog/rag-graph-traversal#:~:text=Retrieval,for%20deeper%2C%20more%20contextual%20retrieval" TargetMode="External"/><Relationship Id="rId3" Type="http://schemas.openxmlformats.org/officeDocument/2006/relationships/hyperlink" Target="https://arxiv.org/html/2405.16506v1" TargetMode="External"/><Relationship Id="rId4" Type="http://schemas.openxmlformats.org/officeDocument/2006/relationships/hyperlink" Target="https://ar5iv.labs.arxiv.org/html/1710.10903#:~:text=We%20present%20graph%20attention%20networks,Our%20GAT%20models%20hav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hyperlink" Target="https://www.elastic.co/search-labs/blog/rag-graph-traversal#:~:text=A%20Knowledge%20Graph%20,Graph%20is%20a%20graph%20whe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atlan.com/know/what-are-embeddings-ai-search/#:~:text=dissimilar%20items%20apart,slower%20retrieval%20and%20higher%20compute" TargetMode="External"/><Relationship Id="rId2" Type="http://schemas.openxmlformats.org/officeDocument/2006/relationships/hyperlink" Target="https://arxiv.org/html/2405.16506v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atlan.com/know/what-are-embeddings-ai-search/#:~:text=dissimilar%20items%20apart,slower%20retrieval%20and%20higher%20compute" TargetMode="External"/><Relationship Id="rId2" Type="http://schemas.openxmlformats.org/officeDocument/2006/relationships/hyperlink" Target="https://arxiv.org/html/2405.16506v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elastic.co/search-labs/blog/rag-graph-traversal#:~:text=Retrieval,for%20deeper%2C%20more%20contextual%20retrieval" TargetMode="External"/><Relationship Id="rId2" Type="http://schemas.openxmlformats.org/officeDocument/2006/relationships/hyperlink" Target="https://arxiv.org/html/2405.16506v1" TargetMode="External"/><Relationship Id="rId3" Type="http://schemas.openxmlformats.org/officeDocument/2006/relationships/hyperlink" Target="https://ar5iv.labs.arxiv.org/html/1710.10903#:~:text=We%20present%20graph%20attention%20networks,Our%20GAT%20models%20hav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www.elastic.co/search-labs/blog/rag-graph-traversal#:~:text=A%20Knowledge%20Graph%20,Graph%20is%20a%20graph%20where" TargetMode="External"/><Relationship Id="rId2" Type="http://schemas.openxmlformats.org/officeDocument/2006/relationships/hyperlink" Target="https://ar5iv.labs.arxiv.org/html/1710.10903#:~:text=We%20present%20graph%20attention%20networks,Our%20GAT%20models%20hav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atlan.com/know/what-are-embeddings-ai-search/#:~:text=dissimilar%20items%20apart,slower%20retrieval%20and%20higher%20compute" TargetMode="External"/><Relationship Id="rId2" Type="http://schemas.openxmlformats.org/officeDocument/2006/relationships/hyperlink" Target="https://www.elastic.co/search-labs/blog/rag-graph-traversal#:~:text=Retrieval,for%20deeper%2C%20more%20contextual%20retrieva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atlan.com/know/what-are-embeddings-ai-search/#:~:text=dissimilar%20items%20apart,slower%20retrieval%20and%20higher%20compute" TargetMode="External"/><Relationship Id="rId2" Type="http://schemas.openxmlformats.org/officeDocument/2006/relationships/hyperlink" Target="https://www.elastic.co/search-labs/blog/rag-graph-traversal#:~:text=A%20Knowledge%20Graph%20,Graph%20is%20a%20graph%20where" TargetMode="External"/><Relationship Id="rId3" Type="http://schemas.openxmlformats.org/officeDocument/2006/relationships/hyperlink" Target="https://arxiv.org/html/2405.16506v1" TargetMode="External"/><Relationship Id="rId4" Type="http://schemas.openxmlformats.org/officeDocument/2006/relationships/hyperlink" Target="https://ar5iv.labs.arxiv.org/html/1710.10903#:~:text=We%20present%20graph%20attention%20networks,Our%20GAT%20models%20hav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"/>
            <a:ext cx="91440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645920"/>
            <a:ext cx="7315200" cy="1645920"/>
          </a:xfrm>
          <a:prstGeom prst="rect">
            <a:avLst/>
          </a:prstGeom>
          <a:solidFill>
            <a:srgbClr val="002B5B">
              <a:alpha val="70000"/>
            </a:srgbClr>
          </a:solidFill>
          <a:ln w="12700">
            <a:solidFill>
              <a:srgbClr val="002B5B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Shatter Map Architecture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C0C0"/>
                </a:solidFill>
              </a:rPr>
              <a:t>Optimising 3072‑D Spectral GAT‑RAG &amp; Neural Instances for Roblox Game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FF"/>
                </a:solidFill>
              </a:rPr>
              <a:t>Tri‑Map Shatter Concept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FF"/>
                </a:solidFill>
              </a:rPr>
              <a:t>Ingestion &amp; Data Pipeline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FF"/>
                </a:solidFill>
              </a:rPr>
              <a:t>Embedding &amp; Spectral GAT‑RAG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FF"/>
                </a:solidFill>
              </a:rPr>
              <a:t>Designing the Shatter Map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FF"/>
                </a:solidFill>
              </a:rPr>
              <a:t>Latency &amp; Training Optimisation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3657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8FF"/>
                </a:solidFill>
              </a:rPr>
              <a:t>Considerations &amp; Conclusions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3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4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Tri‑Map Shatter Concept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41148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914400"/>
            <a:ext cx="3931920" cy="1097280"/>
          </a:xfrm>
          <a:prstGeom prst="roundRect">
            <a:avLst/>
          </a:prstGeom>
          <a:solidFill>
            <a:srgbClr val="58A6FF">
              <a:alpha val="8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892040" y="1051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Conceptual Map
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Scripts, events and modules representing logic &amp; narrative.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2194560"/>
            <a:ext cx="3931920" cy="1097280"/>
          </a:xfrm>
          <a:prstGeom prst="round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892040" y="2331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Spatial Map
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Terrain, foliage and spatial features; positions of in‑game objects.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3474720"/>
            <a:ext cx="3931920" cy="1097280"/>
          </a:xfrm>
          <a:prstGeom prst="round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892040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Structural Map
</a:t>
            </a:r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Walls, floors and building parts defining the world geometry.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Ingestion &amp; Data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554480" cy="731520"/>
          </a:xfrm>
          <a:prstGeom prst="roundRect">
            <a:avLst/>
          </a:prstGeom>
          <a:solidFill>
            <a:srgbClr val="FF6F61"/>
          </a:solidFill>
          <a:ln w="12700">
            <a:solidFill>
              <a:srgbClr val="FF6F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Superbullet (Base world)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011680" y="2468880"/>
            <a:ext cx="365760" cy="274320"/>
          </a:xfrm>
          <a:prstGeom prst="rightArrow">
            <a:avLst/>
          </a:prstGeom>
          <a:solidFill>
            <a:srgbClr val="5179A9"/>
          </a:solidFill>
          <a:ln w="12700">
            <a:solidFill>
              <a:srgbClr val="5179A9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194560" y="2286000"/>
            <a:ext cx="1554480" cy="731520"/>
          </a:xfrm>
          <a:prstGeom prst="roundRect">
            <a:avLst/>
          </a:prstGeom>
          <a:solidFill>
            <a:srgbClr val="FDB44E"/>
          </a:solidFill>
          <a:ln w="12700">
            <a:solidFill>
              <a:srgbClr val="FDB44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Rojo Conversion (Lua → JSON)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2468880"/>
            <a:ext cx="365760" cy="274320"/>
          </a:xfrm>
          <a:prstGeom prst="rightArrow">
            <a:avLst/>
          </a:prstGeom>
          <a:solidFill>
            <a:srgbClr val="5179A9"/>
          </a:solidFill>
          <a:ln w="12700">
            <a:solidFill>
              <a:srgbClr val="5179A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931920" y="2286000"/>
            <a:ext cx="1554480" cy="731520"/>
          </a:xfrm>
          <a:prstGeom prst="roundRect">
            <a:avLst/>
          </a:prstGeom>
          <a:solidFill>
            <a:srgbClr val="6BBEF7"/>
          </a:solidFill>
          <a:ln w="12700">
            <a:solidFill>
              <a:srgbClr val="6BBEF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97764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3072‑D Embedder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2468880"/>
            <a:ext cx="365760" cy="274320"/>
          </a:xfrm>
          <a:prstGeom prst="rightArrow">
            <a:avLst/>
          </a:prstGeom>
          <a:solidFill>
            <a:srgbClr val="5179A9"/>
          </a:solidFill>
          <a:ln w="12700">
            <a:solidFill>
              <a:srgbClr val="5179A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0" y="2286000"/>
            <a:ext cx="1554480" cy="73152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71500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Instance Classifier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223760" y="2468880"/>
            <a:ext cx="365760" cy="274320"/>
          </a:xfrm>
          <a:prstGeom prst="rightArrow">
            <a:avLst/>
          </a:prstGeom>
          <a:solidFill>
            <a:srgbClr val="5179A9"/>
          </a:solidFill>
          <a:ln w="12700">
            <a:solidFill>
              <a:srgbClr val="5179A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06640" y="2286000"/>
            <a:ext cx="1554480" cy="73152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52360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Tri‑Map Shatter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F"/>
                </a:solidFill>
              </a:rPr>
              <a:t>We bootstrap a playable world from Superbullet, convert it to JSON with Rojo, embed objects into a 3072‑D vector space, classify their roles, and scatter them into conceptual, spatial and structural shards for repair.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Embedding &amp; Spectral GAT‑RAG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Retrieval &amp; Expressiveness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ada‑002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1 536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Good performance; moderate dimension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text‑embedding‑3‑large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3 072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Higher accuracy (↑3.6% on MTEB); slower retrieval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TE3‑large (256)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256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5E8FF"/>
                          </a:solidFill>
                        </a:rPr>
                        <a:t>Compressed; faster retrieval; still beats 1 536‑D baseline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5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13716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F"/>
                </a:solidFill>
              </a:rPr>
              <a:t>Higher dimensions encode richer structure but increase latency and compute requirements. Your choice should reflect the query volume and latency budget
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Graph RAG</a:t>
            </a:r>
            <a:pPr indent="0" marL="0">
              <a:buNone/>
            </a:pPr>
            <a:r>
              <a:rPr lang="en-US" sz="1100" dirty="0">
                <a:solidFill>
                  <a:srgbClr val="D5E8FF"/>
                </a:solidFill>
              </a:rPr>
              <a:t> integrates topological awareness into retrieval. By indexing ego‑subgraphs and pruning irrelevant nodes, it overcomes document RAG limitations and reduces hallucinations.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Graph RAG &amp; GAT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Why Graph RAG?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
• Overcomes context window limitations by retrieving subgraphs relevant to a query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Exploits relationships across documents that classic RAG misses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Provides unified, fine‑grained representation enabling mathematical operations (clustering, path search)
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Graph Attention Networks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
• Use masked self‑attention on graphs to weight neighbours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Avoid costly matrix inversions and handle unknown graph structures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Achieve state‑of‑the‑art performance on inductive and transductive tasks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005840"/>
            <a:ext cx="3931920" cy="28346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800600" y="1097280"/>
            <a:ext cx="38404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GRAG retrieval and generation pipeline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97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56B6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grag_query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KG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emb_q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embed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3072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Retrieve ego‑subgraphs most similar to the query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subgraphs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retrieve_subgraphs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emb_q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Soft‑prune nodes unrelated to the query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pruned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soft_prune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subgraphs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emb_q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Aggregate information via Graph Attention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graph_attention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pruned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Generate the answer with the LLM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7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LLM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query</a:t>
            </a:r>
            <a:pPr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3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Designing the Shatter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86200" y="2286000"/>
            <a:ext cx="1371600" cy="7315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886200" y="2331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Vector Index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28800" cy="91440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Conceptual Shard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920240"/>
            <a:ext cx="1508760" cy="73152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3108960"/>
            <a:ext cx="1828800" cy="91440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Spatial Shard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3566160"/>
            <a:ext cx="1508760" cy="-91440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0" y="2286000"/>
            <a:ext cx="1828800" cy="914400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Structural Shard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3886200" y="2743200"/>
            <a:ext cx="4343400" cy="-9144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463040" cy="731520"/>
          </a:xfrm>
          <a:prstGeom prst="diamond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84048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Router (Eve)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457200"/>
            <a:ext cx="1828800" cy="731520"/>
          </a:xfrm>
          <a:prstGeom prst="round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45920" y="685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Logic Agent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1188720"/>
            <a:ext cx="365760" cy="365760"/>
          </a:xfrm>
          <a:prstGeom prst="downArrow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977640" y="457200"/>
            <a:ext cx="1828800" cy="73152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77640" y="685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Landscaper 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188720"/>
            <a:ext cx="365760" cy="365760"/>
          </a:xfrm>
          <a:prstGeom prst="down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0" y="457200"/>
            <a:ext cx="1828800" cy="731520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0" y="685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Architect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188720"/>
            <a:ext cx="365760" cy="365760"/>
          </a:xfrm>
          <a:prstGeom prst="downArrow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Central vector index holds 3072‑D embeddings for all shards. A deterministic router dispatches queries to specialised agents who read/write via the index. This arrangement minimises network hops and exploits locality within shards.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Latency &amp; Training Optimisation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65760" cy="36576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731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Vector Compression
</a:t>
            </a:r>
            <a:pPr indent="0" marL="0">
              <a:buNone/>
            </a:pPr>
            <a:r>
              <a:rPr lang="en-US" sz="900" dirty="0">
                <a:solidFill>
                  <a:srgbClr val="D5E8FF"/>
                </a:solidFill>
              </a:rPr>
              <a:t>Compress selected shards to 256‑D for latency‑critical queries, retaining 3072‑D variants offline.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Hierarchical Caching
</a:t>
            </a:r>
            <a:pPr indent="0" marL="0">
              <a:buNone/>
            </a:pPr>
            <a:r>
              <a:rPr lang="en-US" sz="900" dirty="0">
                <a:solidFill>
                  <a:srgbClr val="D5E8FF"/>
                </a:solidFill>
              </a:rPr>
              <a:t>Maintain per‑agent L1 caches and a shared L2 cache; minimise network hops for repeated queries.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Precomputed Subgraphs
</a:t>
            </a:r>
            <a:pPr indent="0" marL="0">
              <a:buNone/>
            </a:pPr>
            <a:r>
              <a:rPr lang="en-US" sz="900" dirty="0">
                <a:solidFill>
                  <a:srgbClr val="D5E8FF"/>
                </a:solidFill>
              </a:rPr>
              <a:t>Index ego‑subgraphs and cluster centroids; prefetch likely nodes during idle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FDB44E"/>
          </a:solidFill>
          <a:ln w="12700">
            <a:solidFill>
              <a:srgbClr val="FDB44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3246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B44E"/>
                </a:solidFill>
              </a:rPr>
              <a:t>Metadata Enrichment
</a:t>
            </a:r>
            <a:pPr indent="0" marL="0">
              <a:buNone/>
            </a:pPr>
            <a:r>
              <a:rPr lang="en-US" sz="900" dirty="0">
                <a:solidFill>
                  <a:srgbClr val="D5E8FF"/>
                </a:solidFill>
              </a:rPr>
              <a:t>Prefix embeddings with rich metadata to improve retrieval quality and reduce false negatives.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[2]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Roblox Fail Points &amp; Resilience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Common Fail Points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
• Script failures &amp; race conditions
• Unbounded memory usage due to poor cleanup
• Exploits from unvalidated remote events
• Performance bottlenecks on large maps
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Roblox Protections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
• Server‑client model isolates physics and critical logic
• Permission systems restrict who can modify code
• Sandboxing and runtime checks prevent malicious calls
</a:t>
            </a:r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Our Approach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Start from a semi‑playable world then repair via automation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Use top‑performing open‑source games to inform best practices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Embed and classify everything; repair via specialised agents with minimal training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Key Takeaways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Tri‑Map shards simplify reasoning by separating logic, spatial and structural aspects.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High‑dimension embeddings capture rich semantics; Graph RAG &amp; GAT maintain topology for coherent retrieval.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A deterministic router and central vector index minimise latency and enable specialised agents.
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Next Steps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Evaluate compression strategies (e.g. 256‑D) on retrieval speed vs recall.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Integrate live telemetry to adaptively prioritise shards based on playtime metrics.
</a:t>
            </a:r>
            <a:pPr indent="0" marL="0">
              <a:buNone/>
            </a:pPr>
            <a:r>
              <a:rPr lang="en-US" sz="1000" dirty="0">
                <a:solidFill>
                  <a:srgbClr val="D5E8FF"/>
                </a:solidFill>
              </a:rPr>
              <a:t>• Extend Graph RAG to incorporate player behaviour graphs and exploit mitigation patterns.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1"/>
              </a:rPr>
              <a:t>[1]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2"/>
              </a:rPr>
              <a:t>[2]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3"/>
              </a:rPr>
              <a:t>[3]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pPr indent="0" marL="0">
              <a:buNone/>
            </a:pPr>
            <a:r>
              <a:rPr lang="en-US" sz="800" u="sng" dirty="0">
                <a:solidFill>
                  <a:srgbClr val="6FA8DC"/>
                </a:solidFill>
                <a:hlinkClick r:id="rId4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2026-04-10T17:43:09Z</dcterms:created>
  <dcterms:modified xsi:type="dcterms:W3CDTF">2026-04-10T17:43:09Z</dcterms:modified>
</cp:coreProperties>
</file>